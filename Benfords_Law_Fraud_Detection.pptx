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620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BDB9C-0A9C-2FE2-C04D-19456C7E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C828F3-E89E-C8F2-9BC0-EC70671C7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4A5A9-3572-4972-AA2D-94133B229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93D73-C7F6-8AC1-AD4E-D3D8CE0CBA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39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BENFORD'S LAW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26334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Forensic Analytics System Built in PostgreSQL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3090672"/>
            <a:ext cx="347472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3246120"/>
            <a:ext cx="1353312" cy="329184"/>
          </a:xfrm>
          <a:prstGeom prst="rect">
            <a:avLst/>
          </a:prstGeom>
          <a:solidFill>
            <a:srgbClr val="4FB8E0"/>
          </a:solidFill>
          <a:ln w="12700">
            <a:solidFill>
              <a:srgbClr val="4FB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24612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92808" y="3246120"/>
            <a:ext cx="1353312" cy="329184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2808" y="3246120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307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Database  |  Aug 1994 – Jun 1996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0050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Food &amp; Beverage Distribution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3200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760720" y="77724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Analysed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63640" y="1060704"/>
            <a:ext cx="21945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2161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760720" y="167335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Columns Tested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63640" y="1956816"/>
            <a:ext cx="21945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11226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60720" y="256946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Transactions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63640" y="2852928"/>
            <a:ext cx="21945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300837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760720" y="346557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Candidates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63640" y="3749040"/>
            <a:ext cx="21945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39044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760720" y="43616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ML Libraries Used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BENFORD'S LAW?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mathematical foundation of the detection engine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1148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4114800" cy="411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Principle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any large, naturally occurring financial dataset — invoices, revenues, transaction amounts — the leading (first) digit does NOT appear randomly. It follows a precise logarithmic pattern where smaller digits appear far more often than larger ones.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Expected % = log₁₀(1 + 1/d)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humans fabricate numbers, they instinctively avoid this natural pattern — creating a statistically detectable deviation. That deviation is the fraud signal.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115568"/>
            <a:ext cx="42976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115568"/>
            <a:ext cx="4297680" cy="4114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34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First Digit Frequencies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72768"/>
            <a:ext cx="292608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72768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92624" y="158191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0" y="158191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— ~1 in 3 numbers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819656"/>
            <a:ext cx="292608" cy="201168"/>
          </a:xfrm>
          <a:prstGeom prst="rect">
            <a:avLst/>
          </a:prstGeom>
          <a:solidFill>
            <a:srgbClr val="4FB8E0"/>
          </a:solidFill>
          <a:ln w="12700">
            <a:solidFill>
              <a:srgbClr val="4FB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81965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92624" y="18288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0" y="18288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2066544"/>
            <a:ext cx="292608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066544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92624" y="20756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207568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8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2313432"/>
            <a:ext cx="292608" cy="201168"/>
          </a:xfrm>
          <a:prstGeom prst="rect">
            <a:avLst/>
          </a:prstGeom>
          <a:solidFill>
            <a:srgbClr val="4FB8E0"/>
          </a:solidFill>
          <a:ln w="12700">
            <a:solidFill>
              <a:srgbClr val="4FB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313432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92624" y="232257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0" y="232257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10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2560320"/>
            <a:ext cx="29260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560320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92624" y="256946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0" y="256946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13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2807208"/>
            <a:ext cx="292608" cy="201168"/>
          </a:xfrm>
          <a:prstGeom prst="rect">
            <a:avLst/>
          </a:prstGeom>
          <a:solidFill>
            <a:srgbClr val="A07AFF"/>
          </a:solidFill>
          <a:ln w="12700">
            <a:solidFill>
              <a:srgbClr val="A07A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807208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92624" y="28163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0" y="281635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15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3054096"/>
            <a:ext cx="292608" cy="201168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054096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92624" y="30632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0" y="30632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17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63440" y="3300984"/>
            <a:ext cx="292608" cy="2011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300984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92624" y="331012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0" y="331012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20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63440" y="3547872"/>
            <a:ext cx="292608" cy="2011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3547872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92624" y="35570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69280" y="355701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common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3977640"/>
            <a:ext cx="8595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0416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279392"/>
            <a:ext cx="1993392" cy="201168"/>
          </a:xfrm>
          <a:prstGeom prst="rect">
            <a:avLst/>
          </a:prstGeom>
          <a:solidFill>
            <a:srgbClr val="F97B6B"/>
          </a:solidFill>
          <a:ln w="12700">
            <a:solidFill>
              <a:srgbClr val="F97B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2793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Enron Accounting Scandal (2001)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514600" y="4279392"/>
            <a:ext cx="1993392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14600" y="42793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GDP Manipulation (EU Entry)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617720" y="4279392"/>
            <a:ext cx="1993392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17720" y="42793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Expense Fraud Detection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720840" y="4279392"/>
            <a:ext cx="1993392" cy="201168"/>
          </a:xfrm>
          <a:prstGeom prst="rect">
            <a:avLst/>
          </a:prstGeom>
          <a:solidFill>
            <a:srgbClr val="4FB8E0"/>
          </a:solidFill>
          <a:ln w="12700">
            <a:solidFill>
              <a:srgbClr val="4FB8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20840" y="42793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Splitting Detection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Database — PostgreSQL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4114800" cy="4114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2011680" cy="256032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382219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830 total orders across the dataset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order_details — line-item sales data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OrderID, Quantity, UnitPrice, Discount, TotalSales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170432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170432"/>
            <a:ext cx="4114800" cy="41148"/>
          </a:xfrm>
          <a:prstGeom prst="rect">
            <a:avLst/>
          </a:prstGeom>
          <a:solidFill>
            <a:srgbClr val="4FB8E0"/>
          </a:solidFill>
          <a:ln w="12700">
            <a:solidFill>
              <a:srgbClr val="4FB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170432"/>
            <a:ext cx="2011680" cy="256032"/>
          </a:xfrm>
          <a:prstGeom prst="rect">
            <a:avLst/>
          </a:prstGeom>
          <a:solidFill>
            <a:srgbClr val="4FB8E0"/>
          </a:solidFill>
          <a:ln w="12700">
            <a:solidFill>
              <a:srgbClr val="4FB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1704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CATEGORIES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09160" y="1517904"/>
            <a:ext cx="382219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unique products across 8 categories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suppliers from 17 countries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Beverages, Dairy, Confections, Seafood, Meat/Poultry, and more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944368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44368"/>
            <a:ext cx="4114800" cy="411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44368"/>
            <a:ext cx="201168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443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382219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unique customers across 21 countries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demographic data (age/gender) available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distribution: USA, Germany, France dominate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2944368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944368"/>
            <a:ext cx="4114800" cy="41148"/>
          </a:xfrm>
          <a:prstGeom prst="rect">
            <a:avLst/>
          </a:prstGeom>
          <a:solidFill>
            <a:srgbClr val="A07AFF"/>
          </a:solidFill>
          <a:ln w="12700">
            <a:solidFill>
              <a:srgbClr val="A07A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944368"/>
            <a:ext cx="2011680" cy="256032"/>
          </a:xfrm>
          <a:prstGeom prst="rect">
            <a:avLst/>
          </a:prstGeom>
          <a:solidFill>
            <a:srgbClr val="A07AFF"/>
          </a:solidFill>
          <a:ln w="12700">
            <a:solidFill>
              <a:srgbClr val="A07A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9443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TESTED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09160" y="3291840"/>
            <a:ext cx="382219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TotalSales — final revenue per line item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UnitPrice — price per unit before discount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— shipping cost (orders table)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626864"/>
            <a:ext cx="8595360" cy="329184"/>
          </a:xfrm>
          <a:prstGeom prst="rect">
            <a:avLst/>
          </a:prstGeom>
          <a:solidFill>
            <a:srgbClr val="FFF8EE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Caveat: Dataset covers 23 months (Aug 1994–Jun 1996). Benford's Law applied only to financial columns (TotalSales, UnitPrice, Freight) — not to IDs, quantities, or percentages.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analytical pipeline — pure PostgreSQL, Power BI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7889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2788920" cy="4114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475488" cy="47548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225296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Benford Expected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Engine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682496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CTEs generate all 9 expected digit frequencies using log₁₀(1+1/d). Stored as a reusable PostgreSQL VIEW.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18688" y="1170432"/>
            <a:ext cx="27889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170432"/>
            <a:ext cx="2788920" cy="41148"/>
          </a:xfrm>
          <a:prstGeom prst="rect">
            <a:avLst/>
          </a:prstGeom>
          <a:solidFill>
            <a:srgbClr val="4FB8E0"/>
          </a:solidFill>
          <a:ln w="12700">
            <a:solidFill>
              <a:srgbClr val="4FB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1170432"/>
            <a:ext cx="475488" cy="475488"/>
          </a:xfrm>
          <a:prstGeom prst="rect">
            <a:avLst/>
          </a:prstGeom>
          <a:solidFill>
            <a:srgbClr val="4FB8E0"/>
          </a:solidFill>
          <a:ln w="12700">
            <a:solidFill>
              <a:srgbClr val="4FB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1170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67328" y="1225296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Digit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1682496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digit extracted from TotalSales, UnitPrice, Freight using LEFT/CAST/ABS/FLOOR with full edge-case handling.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63056" y="1170432"/>
            <a:ext cx="27889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170432"/>
            <a:ext cx="2788920" cy="411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1170432"/>
            <a:ext cx="47548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170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11696" y="1225296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Test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4496" y="1682496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implemented in pure SQL. Tests whether Benford deviations are statistically real (p&lt;0.05) or just random noise.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044952"/>
            <a:ext cx="27889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044952"/>
            <a:ext cx="2788920" cy="411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044952"/>
            <a:ext cx="47548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3099816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Anomaly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3557016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transaction values flagged using STDDEV window functions. Identifies extreme outliers at ±3 standard deviations.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18688" y="3044952"/>
            <a:ext cx="27889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18688" y="3044952"/>
            <a:ext cx="2788920" cy="41148"/>
          </a:xfrm>
          <a:prstGeom prst="rect">
            <a:avLst/>
          </a:prstGeom>
          <a:solidFill>
            <a:srgbClr val="A07AFF"/>
          </a:solidFill>
          <a:ln w="12700">
            <a:solidFill>
              <a:srgbClr val="A07A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18688" y="3044952"/>
            <a:ext cx="475488" cy="475488"/>
          </a:xfrm>
          <a:prstGeom prst="rect">
            <a:avLst/>
          </a:prstGeom>
          <a:solidFill>
            <a:srgbClr val="A07AFF"/>
          </a:solidFill>
          <a:ln w="12700">
            <a:solidFill>
              <a:srgbClr val="A07A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18688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67328" y="3099816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10128" y="3557016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detection, threshold avoidance analysis, and round number clustering across all suppliers.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63056" y="3044952"/>
            <a:ext cx="27889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63056" y="3044952"/>
            <a:ext cx="2788920" cy="41148"/>
          </a:xfrm>
          <a:prstGeom prst="rect">
            <a:avLst/>
          </a:prstGeom>
          <a:solidFill>
            <a:srgbClr val="F97B6B"/>
          </a:solidFill>
          <a:ln w="12700">
            <a:solidFill>
              <a:srgbClr val="F97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63056" y="3044952"/>
            <a:ext cx="475488" cy="475488"/>
          </a:xfrm>
          <a:prstGeom prst="rect">
            <a:avLst/>
          </a:prstGeom>
          <a:solidFill>
            <a:srgbClr val="F97B6B"/>
          </a:solidFill>
          <a:ln w="12700">
            <a:solidFill>
              <a:srgbClr val="F97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3056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711696" y="3099816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Risk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54496" y="3557016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signals combined into one 0-100 risk score per supplier. Chi=40%, Z-Score=35%, Benford=25%, Round modifier flat.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SIGNIFICANCE FINDINGS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df=8 | Critical values: 13.36 (90%) · 15.51 (95%) · 20.09 (99%)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8595360" cy="411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Chi-Square Results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2743200" cy="658368"/>
          </a:xfrm>
          <a:prstGeom prst="rect">
            <a:avLst/>
          </a:prstGeom>
          <a:solidFill>
            <a:srgbClr val="F97B6B"/>
          </a:solidFill>
          <a:ln w="12700">
            <a:solidFill>
              <a:srgbClr val="F97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91056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UnitPrice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χ²=217.69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RISK (p &lt; 0.01)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64408" y="1572768"/>
            <a:ext cx="169164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591056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TotalSales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χ²=21.12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RISK (p &lt; 0.01)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65776" y="1572768"/>
            <a:ext cx="777240" cy="6583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11496" y="1591056"/>
            <a:ext cx="685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χ²=10.79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8595360" cy="347472"/>
          </a:xfrm>
          <a:prstGeom prst="rect">
            <a:avLst/>
          </a:prstGeom>
          <a:solidFill>
            <a:srgbClr val="EAF5FF"/>
          </a:solidFill>
          <a:ln w="6350">
            <a:solidFill>
              <a:srgbClr val="4FB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054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UnitPrice (χ²=217.69) is 10× above the 99% confidence threshold — suggesting manipulation occurs at the pricing level before the final invoice is calculated, not at the TotalSales level.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907792"/>
            <a:ext cx="8595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07792"/>
            <a:ext cx="8595360" cy="411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992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Supplier-Level Chi-Square — Top Flagged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31012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017520" y="331012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86200" y="331012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3310128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0" y="331012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3566160"/>
            <a:ext cx="8449056" cy="210312"/>
          </a:xfrm>
          <a:prstGeom prst="rect">
            <a:avLst/>
          </a:prstGeom>
          <a:solidFill>
            <a:srgbClr val="F8FA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584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Nord-Ost-Fisch Handelsgesellschaft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17520" y="358444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86200" y="358444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358444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69280" y="35844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chi-square with only 32 transactions — strongest signal per transaction in dataset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7472" y="3803904"/>
            <a:ext cx="8449056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82219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Orleans Cajun Delights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017520" y="382219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21.19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86200" y="38221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46320" y="3822192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69280" y="38221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signals: chi-square + elevated round number rate (47.1%)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7472" y="4041648"/>
            <a:ext cx="8449056" cy="210312"/>
          </a:xfrm>
          <a:prstGeom prst="rect">
            <a:avLst/>
          </a:prstGeom>
          <a:solidFill>
            <a:srgbClr val="F8FA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0599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Bigfoot Breweries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017520" y="405993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16.09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86200" y="405993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46320" y="4059936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69280" y="405993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Crosses 95% confidence threshold — secondary investigation candidate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47472" y="4279392"/>
            <a:ext cx="8449056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2976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Mayumi's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017520" y="4297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886200" y="42976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46320" y="429768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69280" y="42976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above 95% threshold — tertiary flag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&amp; DUPLICATE DETECTION FINDINGS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Transaction-level anomaly detection + pattern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4160520" cy="41148"/>
          </a:xfrm>
          <a:prstGeom prst="rect">
            <a:avLst/>
          </a:prstGeom>
          <a:solidFill>
            <a:srgbClr val="F97B6B"/>
          </a:solidFill>
          <a:ln w="12700">
            <a:solidFill>
              <a:srgbClr val="F97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#10983 — Cross-Validated Finding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499616"/>
            <a:ext cx="39593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just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= $657.54 on goods worth only $720.90 = 91.2% freight-to-revenue ratio</a:t>
            </a:r>
            <a:endParaRPr lang="en-US" sz="900" dirty="0"/>
          </a:p>
          <a:p>
            <a:pPr marL="171450" indent="-171450" algn="just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independently by 3 separate methods: EDA ratio analysis, Z-score anomaly detection (Z=4.96), and cross-reference validation</a:t>
            </a:r>
            <a:endParaRPr lang="en-US" sz="900" dirty="0"/>
          </a:p>
          <a:p>
            <a:pPr marL="171450" indent="-171450" algn="just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Cross-method validation on a single transaction eliminates the possibility of a false positive</a:t>
            </a:r>
            <a:endParaRPr lang="en-US" sz="900" dirty="0"/>
          </a:p>
          <a:p>
            <a:pPr marL="171450" indent="-171450" algn="just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 customer — largest customer in dataset — freight cost almost equals product cost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170432"/>
            <a:ext cx="4297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170432"/>
            <a:ext cx="4297680" cy="411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6187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joyeux ecclésiastiques — Luxury Product Caveat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09160" y="1591056"/>
            <a:ext cx="4096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of 34 total Z-score outliers (50%) concentrated in one supplier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driven by large-volume orders of Côte de Blaye — priced at $263.50/unit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conclusion: legitimate premium purchases, NOT fraud — demonstrates Z-score limitation on right-skewed luxury price distributions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31.5% outlier rate noted as highest in dataset for context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035808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35808"/>
            <a:ext cx="4160520" cy="41148"/>
          </a:xfrm>
          <a:prstGeom prst="rect">
            <a:avLst/>
          </a:prstGeom>
          <a:solidFill>
            <a:srgbClr val="A07AFF"/>
          </a:solidFill>
          <a:ln w="12700">
            <a:solidFill>
              <a:srgbClr val="A07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272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Plutzer — Cross-Signal Alert (Most Analytically Interesting)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456432"/>
            <a:ext cx="39593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chi-square (χ²=11.07 — CONFORMS) but produces 8 Z-score outliers (4.5% rate)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digit pattern + abnormal individual transaction values = classic hidden fraud profile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outliers on Thüringer Rostbratwurst — highest at Z=9.61 ($9,903)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why running both chi-square AND Z-score simultaneously is necessary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3035808"/>
            <a:ext cx="4297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3035808"/>
            <a:ext cx="4297680" cy="4114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1272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— All Clear + Key Findings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36008" y="3367193"/>
            <a:ext cx="40965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near-duplicate transactions in 830 orders — no double-billing pattern detected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threshold avoidance: $500 zone shows 76 below vs 84 above — natural distribution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Nord-Ost-Fisch: lowest round number rate (3.1%) in a dataset averaging 55-60% — consistent with biased algorithmic decimal generation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34 Z-score outliers are HIGH direction only — manipulation inflates values, not deflates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RISK SCORING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signals combined into one normalised 0-100 score per supplier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8595360" cy="411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3502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 =  (Benford Score × 25%)  +  (Chi-Square Score × 40%)  +  (Z-Score Score × 35%)  +  Round Modifier (flat ±5)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20574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48840"/>
            <a:ext cx="2057400" cy="411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311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4871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9077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40 pts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rigorous signal — statistically grounded thresholds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450592" y="2148840"/>
            <a:ext cx="20574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2148840"/>
            <a:ext cx="2057400" cy="411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22311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Outliers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42032" y="24871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542032" y="29077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35 pts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individual extreme transactions chi-square misses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26864" y="2148840"/>
            <a:ext cx="20574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2148840"/>
            <a:ext cx="2057400" cy="4114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22311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Benford Deviation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18304" y="24871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18304" y="29077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25 pts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version of chi-square — avoids double-counting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803136" y="2148840"/>
            <a:ext cx="20574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2148840"/>
            <a:ext cx="2057400" cy="41148"/>
          </a:xfrm>
          <a:prstGeom prst="rect">
            <a:avLst/>
          </a:prstGeom>
          <a:solidFill>
            <a:srgbClr val="A07AFF"/>
          </a:solidFill>
          <a:ln w="12700">
            <a:solidFill>
              <a:srgbClr val="A07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22311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Modifier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94576" y="24871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±5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94576" y="29077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5 pts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adjustment — not statistically reliable enough for primary signal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81101" y="3493008"/>
            <a:ext cx="8595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493008"/>
            <a:ext cx="8595360" cy="411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5661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Supplier Risk Rankings — Top 4 Investigation Candidates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3858768"/>
            <a:ext cx="402336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13816" y="385876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70975" y="385876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47633" y="385876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124289" y="38587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Benford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91217" y="38587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58145" y="38587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870793" y="3858768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7472" y="4049101"/>
            <a:ext cx="8449056" cy="182880"/>
          </a:xfrm>
          <a:prstGeom prst="rect">
            <a:avLst/>
          </a:prstGeom>
          <a:solidFill>
            <a:srgbClr val="F8FA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065018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770975" y="4065018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47633" y="4058245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4124289" y="4058245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4691217" y="4058245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5258145" y="4058245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5870797" y="4071791"/>
            <a:ext cx="3063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chi-square (21.34) + lowest round no. % (3.1%) in dataset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347472" y="4250269"/>
            <a:ext cx="84490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266186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813816" y="4266186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joyeux ecclésiastiques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2770975" y="4266186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447633" y="4259413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4124289" y="4259413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4691217" y="4259413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5258145" y="4259413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5870793" y="4259413"/>
            <a:ext cx="3063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Z-score outliers (17) — luxury product caveat documented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347472" y="4451437"/>
            <a:ext cx="8449056" cy="182880"/>
          </a:xfrm>
          <a:prstGeom prst="rect">
            <a:avLst/>
          </a:prstGeom>
          <a:solidFill>
            <a:srgbClr val="F8FA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3816" y="4453808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Orleans Cajun Delights</a:t>
            </a:r>
            <a:endParaRPr lang="en-US" sz="780" dirty="0"/>
          </a:p>
        </p:txBody>
      </p:sp>
      <p:sp>
        <p:nvSpPr>
          <p:cNvPr id="60" name="Text 58"/>
          <p:cNvSpPr/>
          <p:nvPr/>
        </p:nvSpPr>
        <p:spPr>
          <a:xfrm>
            <a:off x="2770975" y="4460581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46.3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124289" y="4460581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4691217" y="4460581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5258145" y="4460581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5870793" y="4460581"/>
            <a:ext cx="3063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HIGH-RISK chi-square (21.19) + elevated round number rate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347472" y="4652605"/>
            <a:ext cx="8449056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4668522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2770975" y="4675295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440860" y="4668522"/>
            <a:ext cx="591988" cy="168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80" dirty="0"/>
          </a:p>
        </p:txBody>
      </p:sp>
      <p:sp>
        <p:nvSpPr>
          <p:cNvPr id="71" name="Text 69"/>
          <p:cNvSpPr/>
          <p:nvPr/>
        </p:nvSpPr>
        <p:spPr>
          <a:xfrm>
            <a:off x="4124289" y="4661749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80" dirty="0"/>
          </a:p>
        </p:txBody>
      </p:sp>
      <p:sp>
        <p:nvSpPr>
          <p:cNvPr id="72" name="Text 70"/>
          <p:cNvSpPr/>
          <p:nvPr/>
        </p:nvSpPr>
        <p:spPr>
          <a:xfrm>
            <a:off x="4691217" y="4661749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80" dirty="0"/>
          </a:p>
        </p:txBody>
      </p:sp>
      <p:sp>
        <p:nvSpPr>
          <p:cNvPr id="73" name="Text 71"/>
          <p:cNvSpPr/>
          <p:nvPr/>
        </p:nvSpPr>
        <p:spPr>
          <a:xfrm>
            <a:off x="5258145" y="4661749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780" dirty="0"/>
          </a:p>
        </p:txBody>
      </p:sp>
      <p:sp>
        <p:nvSpPr>
          <p:cNvPr id="74" name="Text 72"/>
          <p:cNvSpPr/>
          <p:nvPr/>
        </p:nvSpPr>
        <p:spPr>
          <a:xfrm>
            <a:off x="5870793" y="4661749"/>
            <a:ext cx="3063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Cross-signal: passes chi-square but 8 Z-score outliers (4.5%)</a:t>
            </a:r>
            <a:endParaRPr lang="en-US" sz="780" dirty="0"/>
          </a:p>
        </p:txBody>
      </p:sp>
      <p:sp>
        <p:nvSpPr>
          <p:cNvPr id="75" name="Text 73"/>
          <p:cNvSpPr/>
          <p:nvPr/>
        </p:nvSpPr>
        <p:spPr>
          <a:xfrm>
            <a:off x="411480" y="4928616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supplier crossed the HIGH-RISK threshold (&gt;70) — consistent with Northwind being a clean demonstration dataset. The model's value lies in the relative ranking.</a:t>
            </a:r>
            <a:endParaRPr lang="en-US" sz="800" dirty="0"/>
          </a:p>
        </p:txBody>
      </p:sp>
      <p:sp>
        <p:nvSpPr>
          <p:cNvPr id="77" name="Text 39">
            <a:extLst>
              <a:ext uri="{FF2B5EF4-FFF2-40B4-BE49-F238E27FC236}">
                <a16:creationId xmlns:a16="http://schemas.microsoft.com/office/drawing/2014/main" id="{68C2BD3A-5A17-59E3-6C6A-1870E1C38EB7}"/>
              </a:ext>
            </a:extLst>
          </p:cNvPr>
          <p:cNvSpPr/>
          <p:nvPr/>
        </p:nvSpPr>
        <p:spPr>
          <a:xfrm>
            <a:off x="795526" y="4058245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Nord-Ost-Fisch Handelsgesellschaft</a:t>
            </a:r>
            <a:endParaRPr lang="en-US" sz="780" dirty="0"/>
          </a:p>
        </p:txBody>
      </p:sp>
      <p:sp>
        <p:nvSpPr>
          <p:cNvPr id="80" name="Text 56">
            <a:extLst>
              <a:ext uri="{FF2B5EF4-FFF2-40B4-BE49-F238E27FC236}">
                <a16:creationId xmlns:a16="http://schemas.microsoft.com/office/drawing/2014/main" id="{E14D5BD5-1FF9-CFAB-BEBB-5CA1DCBC58D1}"/>
              </a:ext>
            </a:extLst>
          </p:cNvPr>
          <p:cNvSpPr/>
          <p:nvPr/>
        </p:nvSpPr>
        <p:spPr>
          <a:xfrm>
            <a:off x="393190" y="4460581"/>
            <a:ext cx="3840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#3</a:t>
            </a:r>
            <a:endParaRPr lang="en-US" sz="780" dirty="0"/>
          </a:p>
        </p:txBody>
      </p:sp>
      <p:sp>
        <p:nvSpPr>
          <p:cNvPr id="82" name="Text 59">
            <a:extLst>
              <a:ext uri="{FF2B5EF4-FFF2-40B4-BE49-F238E27FC236}">
                <a16:creationId xmlns:a16="http://schemas.microsoft.com/office/drawing/2014/main" id="{F37315F1-DE2B-6418-5ACC-C27C3B15071A}"/>
              </a:ext>
            </a:extLst>
          </p:cNvPr>
          <p:cNvSpPr/>
          <p:nvPr/>
        </p:nvSpPr>
        <p:spPr>
          <a:xfrm>
            <a:off x="3442889" y="4460581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80" dirty="0"/>
          </a:p>
        </p:txBody>
      </p:sp>
      <p:sp>
        <p:nvSpPr>
          <p:cNvPr id="84" name="Text 66">
            <a:extLst>
              <a:ext uri="{FF2B5EF4-FFF2-40B4-BE49-F238E27FC236}">
                <a16:creationId xmlns:a16="http://schemas.microsoft.com/office/drawing/2014/main" id="{044701CD-0549-F883-8A89-5C8570A305C9}"/>
              </a:ext>
            </a:extLst>
          </p:cNvPr>
          <p:cNvSpPr/>
          <p:nvPr/>
        </p:nvSpPr>
        <p:spPr>
          <a:xfrm>
            <a:off x="795526" y="4654976"/>
            <a:ext cx="2331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Plutzer Lebensmittelgroßmärkte AG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0805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423333"/>
            <a:ext cx="263313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2-page interactive fraud investigation tool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34813"/>
            <a:ext cx="8595360" cy="376461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34307"/>
            <a:ext cx="8595360" cy="4571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1309" y="871624"/>
            <a:ext cx="16340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Fraud Overview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4160520" cy="2907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4690872"/>
            <a:ext cx="8595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4754880"/>
            <a:ext cx="73152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5488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Benford Distribution Curve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792224" y="4754880"/>
            <a:ext cx="73152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01952" y="475488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RAG Ranking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36976" y="4754880"/>
            <a:ext cx="73152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475488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Significance Table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81728" y="4754880"/>
            <a:ext cx="73152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475488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Outlier Transactions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126480" y="4754880"/>
            <a:ext cx="73152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475488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Freight-to-Revenue Chart (Order #10983)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571232" y="4754880"/>
            <a:ext cx="73152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475488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Supplier Slicer</a:t>
            </a:r>
            <a:endParaRPr lang="en-US" sz="7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5AF0A6C-D7A4-16C8-BACA-840C9351E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4785"/>
            <a:ext cx="6243320" cy="35024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81607-FAF2-194F-4E1B-3E4E93A07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30F9F4-2906-5C96-5E47-BA8758816FAC}"/>
              </a:ext>
            </a:extLst>
          </p:cNvPr>
          <p:cNvSpPr/>
          <p:nvPr/>
        </p:nvSpPr>
        <p:spPr>
          <a:xfrm>
            <a:off x="0" y="0"/>
            <a:ext cx="9144000" cy="7745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0BD2DA-95CF-DAC4-F1E0-4607683C0B02}"/>
              </a:ext>
            </a:extLst>
          </p:cNvPr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32FCA7-7EA6-1D3E-BE2F-116A87F0EAEC}"/>
              </a:ext>
            </a:extLst>
          </p:cNvPr>
          <p:cNvSpPr/>
          <p:nvPr/>
        </p:nvSpPr>
        <p:spPr>
          <a:xfrm>
            <a:off x="320040" y="427060"/>
            <a:ext cx="259926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2-page interactive fraud investigation tool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8407B71-5119-48CC-7D75-5E7F573EBA44}"/>
              </a:ext>
            </a:extLst>
          </p:cNvPr>
          <p:cNvSpPr/>
          <p:nvPr/>
        </p:nvSpPr>
        <p:spPr>
          <a:xfrm>
            <a:off x="126492" y="838540"/>
            <a:ext cx="8727440" cy="37608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31E3EFE-2A4C-7102-7705-B732EA215B0F}"/>
              </a:ext>
            </a:extLst>
          </p:cNvPr>
          <p:cNvSpPr/>
          <p:nvPr/>
        </p:nvSpPr>
        <p:spPr>
          <a:xfrm>
            <a:off x="142240" y="851421"/>
            <a:ext cx="8727440" cy="45719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BBE0A7B-E75F-3259-0A92-4854A465500B}"/>
              </a:ext>
            </a:extLst>
          </p:cNvPr>
          <p:cNvSpPr/>
          <p:nvPr/>
        </p:nvSpPr>
        <p:spPr>
          <a:xfrm>
            <a:off x="110744" y="865972"/>
            <a:ext cx="231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Transaction Anomaly Explorer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2680604-513A-DE31-A63B-BAD3FB16198C}"/>
              </a:ext>
            </a:extLst>
          </p:cNvPr>
          <p:cNvSpPr/>
          <p:nvPr/>
        </p:nvSpPr>
        <p:spPr>
          <a:xfrm>
            <a:off x="4663440" y="1572768"/>
            <a:ext cx="4160520" cy="2907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C7177A6-F0DD-A8BE-3346-883D7FF118D8}"/>
              </a:ext>
            </a:extLst>
          </p:cNvPr>
          <p:cNvSpPr/>
          <p:nvPr/>
        </p:nvSpPr>
        <p:spPr>
          <a:xfrm>
            <a:off x="274320" y="4690872"/>
            <a:ext cx="8595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00D2D66-C71A-2640-174E-DDA7C9518C09}"/>
              </a:ext>
            </a:extLst>
          </p:cNvPr>
          <p:cNvSpPr/>
          <p:nvPr/>
        </p:nvSpPr>
        <p:spPr>
          <a:xfrm>
            <a:off x="347472" y="4754880"/>
            <a:ext cx="73152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340AB83-24FF-0D3F-25C3-FF54E699ACEB}"/>
              </a:ext>
            </a:extLst>
          </p:cNvPr>
          <p:cNvSpPr/>
          <p:nvPr/>
        </p:nvSpPr>
        <p:spPr>
          <a:xfrm>
            <a:off x="457200" y="475488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Benford Distribution Curve</a:t>
            </a:r>
            <a:endParaRPr lang="en-US" sz="7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6CED972-9D1B-9D8C-367A-E4E9866DDBBE}"/>
              </a:ext>
            </a:extLst>
          </p:cNvPr>
          <p:cNvSpPr/>
          <p:nvPr/>
        </p:nvSpPr>
        <p:spPr>
          <a:xfrm>
            <a:off x="1792224" y="4754880"/>
            <a:ext cx="73152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8675776-BF3B-C407-2AEA-4F7DE4A99944}"/>
              </a:ext>
            </a:extLst>
          </p:cNvPr>
          <p:cNvSpPr/>
          <p:nvPr/>
        </p:nvSpPr>
        <p:spPr>
          <a:xfrm>
            <a:off x="1901952" y="475488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RAG Ranking</a:t>
            </a:r>
            <a:endParaRPr lang="en-US" sz="7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D645AB1-3DC5-0FE5-8A65-B083F40B4AA5}"/>
              </a:ext>
            </a:extLst>
          </p:cNvPr>
          <p:cNvSpPr/>
          <p:nvPr/>
        </p:nvSpPr>
        <p:spPr>
          <a:xfrm>
            <a:off x="3236976" y="4754880"/>
            <a:ext cx="73152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1758959-F905-09B2-8399-81DEF8A560A5}"/>
              </a:ext>
            </a:extLst>
          </p:cNvPr>
          <p:cNvSpPr/>
          <p:nvPr/>
        </p:nvSpPr>
        <p:spPr>
          <a:xfrm>
            <a:off x="3346704" y="475488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Significance Table</a:t>
            </a:r>
            <a:endParaRPr lang="en-US" sz="7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F9E8B22-2673-14F9-1425-FF33DFAA5CB7}"/>
              </a:ext>
            </a:extLst>
          </p:cNvPr>
          <p:cNvSpPr/>
          <p:nvPr/>
        </p:nvSpPr>
        <p:spPr>
          <a:xfrm>
            <a:off x="4681728" y="4754880"/>
            <a:ext cx="73152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6E3B865-1050-B09E-39A9-2E8C820220FC}"/>
              </a:ext>
            </a:extLst>
          </p:cNvPr>
          <p:cNvSpPr/>
          <p:nvPr/>
        </p:nvSpPr>
        <p:spPr>
          <a:xfrm>
            <a:off x="4791456" y="475488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Outlier Transactions</a:t>
            </a:r>
            <a:endParaRPr lang="en-US" sz="7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F64C5D6-1F51-B3F1-5147-3BC4363680DF}"/>
              </a:ext>
            </a:extLst>
          </p:cNvPr>
          <p:cNvSpPr/>
          <p:nvPr/>
        </p:nvSpPr>
        <p:spPr>
          <a:xfrm>
            <a:off x="6126480" y="4754880"/>
            <a:ext cx="73152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EDE1517-BB93-7B5D-269B-DC7B7FF6B2D3}"/>
              </a:ext>
            </a:extLst>
          </p:cNvPr>
          <p:cNvSpPr/>
          <p:nvPr/>
        </p:nvSpPr>
        <p:spPr>
          <a:xfrm>
            <a:off x="6236208" y="475488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Freight-to-Revenue Chart (Order #10983)</a:t>
            </a:r>
            <a:endParaRPr lang="en-US" sz="7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8BD1FC9-41E5-AA50-D750-7AD92A5E8D8C}"/>
              </a:ext>
            </a:extLst>
          </p:cNvPr>
          <p:cNvSpPr/>
          <p:nvPr/>
        </p:nvSpPr>
        <p:spPr>
          <a:xfrm>
            <a:off x="7571232" y="4754880"/>
            <a:ext cx="73152" cy="20116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9C6A55D-2B43-BD3F-C5D6-AF81ADA78620}"/>
              </a:ext>
            </a:extLst>
          </p:cNvPr>
          <p:cNvSpPr/>
          <p:nvPr/>
        </p:nvSpPr>
        <p:spPr>
          <a:xfrm>
            <a:off x="7680960" y="475488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Supplier Slicer</a:t>
            </a:r>
            <a:endParaRPr lang="en-US" sz="7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8D5157D-24CF-3CE8-8297-1EB9E617D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16" y="1122003"/>
            <a:ext cx="6906937" cy="347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2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is telling us — quantified and actionable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6052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4160520" cy="41148"/>
          </a:xfrm>
          <a:prstGeom prst="rect">
            <a:avLst/>
          </a:prstGeom>
          <a:solidFill>
            <a:srgbClr val="F97B6B"/>
          </a:solidFill>
          <a:ln w="12700">
            <a:solidFill>
              <a:srgbClr val="F97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1828800" cy="256032"/>
          </a:xfrm>
          <a:prstGeom prst="rect">
            <a:avLst/>
          </a:prstGeom>
          <a:solidFill>
            <a:srgbClr val="F97B6B"/>
          </a:solidFill>
          <a:ln w="12700">
            <a:solidFill>
              <a:srgbClr val="F97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ANOMALY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3913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Finding: UnitPrice shows the strongest Benford signal (χ²=217.69) — 10× above the 99% confidence threshold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3913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Manipulation likely enters at the pricing decision level, not at the final invoice total. This is more specific and actionable than a TotalSales anomaly alone.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542032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Review pricing authority controls for Nord-Ost-Fisch and New Orleans Cajun Delights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0" y="1170432"/>
            <a:ext cx="416052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70432"/>
            <a:ext cx="4160520" cy="411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170432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1704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TRANSACTION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09160" y="1517904"/>
            <a:ext cx="3913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Finding: Order #10983: freight=$657.54 on goods worth $720.90 = 91.2% freight-to-revenue ratio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09160" y="2011680"/>
            <a:ext cx="3913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The same order was independently flagged by three separate analytical methods — EDA ratio analysis, Z-score (Z=4.96), and cross-reference validation. Three independent flags on one transaction eliminates false positive risk.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09160" y="2542032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Investigate Order #10983 and all SAVEA freight charges above 15% ratio threshold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090672"/>
            <a:ext cx="416052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90672"/>
            <a:ext cx="4160520" cy="41148"/>
          </a:xfrm>
          <a:prstGeom prst="rect">
            <a:avLst/>
          </a:prstGeom>
          <a:solidFill>
            <a:srgbClr val="A07AFF"/>
          </a:solidFill>
          <a:ln w="12700">
            <a:solidFill>
              <a:srgbClr val="A07A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090672"/>
            <a:ext cx="1828800" cy="256032"/>
          </a:xfrm>
          <a:prstGeom prst="rect">
            <a:avLst/>
          </a:prstGeom>
          <a:solidFill>
            <a:srgbClr val="A07AFF"/>
          </a:solidFill>
          <a:ln w="12700">
            <a:solidFill>
              <a:srgbClr val="A07A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906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DETECTION VALIDATED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438144"/>
            <a:ext cx="3913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Finding: Zero overlap between chi-square suspects and Z-score suspects across all 29 suppliers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931920"/>
            <a:ext cx="3913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Chi-square and Z-score catch completely different fraud profiles — proving both tests are necessary. A single-signal model would miss half the flagged suppliers entirely.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4462272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0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Maintain all three detection signals in any extension of this engine to real company data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0" y="3090672"/>
            <a:ext cx="416052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3090672"/>
            <a:ext cx="4160520" cy="4114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3090672"/>
            <a:ext cx="1828800" cy="256032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0906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 CONFIRMATION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09160" y="3438144"/>
            <a:ext cx="3913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Finding: Zero near-duplicate transactions. No threshold avoidance pattern. No supplier reaches HIGH RISK (&gt;70)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09160" y="3931920"/>
            <a:ext cx="3913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The negative results are findings too — they eliminate double-billing and structuring as fraud vectors in Northwind. The model's ranking (top 4 cluster at 46-58) is analytically meaningful even without a HIGH-RISK classification.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09160" y="4462272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 a real deployment, these negative results would narrow the investigation scope significantly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760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disclosure — what the model can and cannot 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062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4206240" cy="41148"/>
          </a:xfrm>
          <a:prstGeom prst="rect">
            <a:avLst/>
          </a:prstGeom>
          <a:solidFill>
            <a:srgbClr val="F97B6B"/>
          </a:solidFill>
          <a:ln w="12700">
            <a:solidFill>
              <a:srgbClr val="F97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Benford's Law does not apply to constrained ranges (IDs, percentages, fixed price lists) — only naturally occurring financial figures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unreliable on very small samples (&lt;15 transactions). Nord-Ost-Fisch's flag is stronger precisely because it crosses 99% with only 32 transactions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assumes normal distribution. Financial data is right-skewed — luxury products (Côte de Blaye, $263.50/unit) legitimately produce high Z-scores on large orders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is a clean demonstration dataset — no supplier reached HIGH RISK (&gt;70). In real company data with actual fraud, scores would be significantly higher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number baseline in Northwind (~55-60%) is elevated due to round UnitPrice structure — dataset-specific calibration required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170432"/>
            <a:ext cx="42062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70432"/>
            <a:ext cx="4206240" cy="4114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618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1572768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Order #10983 immediately — freight cost 91.2% of goods value, cross-validated by 3 independent methods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Nord-Ost-Fisch and New Orleans Cajun Delights — both exceed 99% chi-square confidence threshold independently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Plutzer's large Thüringer Rostbratwurst orders — 8 Z-score outliers despite clean chi-square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minimum order value for subsidised shipping to eliminate high freight-to-revenue ratio edge cases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this engine on real company financial data with known fraud cases to validate detection accuracy and calibrate thresholds to actual company approval policies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858768"/>
            <a:ext cx="85953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93192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"Benford's Law is a screening tool, not a verdict. Its job is to narrow thousands of transactions to a shortlist of dozens worth manual investigation. Combined with Z-score and duplicate detection — implemented entirely in pure PostgreSQL without any Python or machine learning library — it makes systematic fraud extremely difficult to hide, because every countermeasure creates a new detectable pattern somewhere else."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919472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Benford's Law Fraud Detection  |  PostgreSQL </a:t>
            </a:r>
            <a:r>
              <a:rPr lang="en-US" sz="75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`Power </a:t>
            </a:r>
            <a:r>
              <a:rPr lang="en-US" sz="7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 |  Northwind Database  |  Aug 1994 – Jun 1996  |  29 Suppliers · 77 Products · 830 Orders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1944</Words>
  <Application>Microsoft Office PowerPoint</Application>
  <PresentationFormat>On-screen Show (16:9)</PresentationFormat>
  <Paragraphs>288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Tanishq khavate</cp:lastModifiedBy>
  <cp:revision>8</cp:revision>
  <dcterms:created xsi:type="dcterms:W3CDTF">2026-07-27T12:50:07Z</dcterms:created>
  <dcterms:modified xsi:type="dcterms:W3CDTF">2026-07-27T19:43:03Z</dcterms:modified>
</cp:coreProperties>
</file>